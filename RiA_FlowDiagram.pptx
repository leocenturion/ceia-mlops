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3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modificar el estilo de subtítulo del patrón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F61-A96E-4D29-86F7-4B88846E400C}" type="datetimeFigureOut">
              <a:rPr lang="es-ES" smtClean="0"/>
              <a:t>03/05/2025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0F0D8-9D3E-4353-915C-6AFC02ACDCC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299610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F61-A96E-4D29-86F7-4B88846E400C}" type="datetimeFigureOut">
              <a:rPr lang="es-ES" smtClean="0"/>
              <a:t>03/05/2025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0F0D8-9D3E-4353-915C-6AFC02ACDCC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0567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F61-A96E-4D29-86F7-4B88846E400C}" type="datetimeFigureOut">
              <a:rPr lang="es-ES" smtClean="0"/>
              <a:t>03/05/2025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0F0D8-9D3E-4353-915C-6AFC02ACDCC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895222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F61-A96E-4D29-86F7-4B88846E400C}" type="datetimeFigureOut">
              <a:rPr lang="es-ES" smtClean="0"/>
              <a:t>03/05/2025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0F0D8-9D3E-4353-915C-6AFC02ACDCC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39136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F61-A96E-4D29-86F7-4B88846E400C}" type="datetimeFigureOut">
              <a:rPr lang="es-ES" smtClean="0"/>
              <a:t>03/05/2025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0F0D8-9D3E-4353-915C-6AFC02ACDCC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381433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F61-A96E-4D29-86F7-4B88846E400C}" type="datetimeFigureOut">
              <a:rPr lang="es-ES" smtClean="0"/>
              <a:t>03/05/2025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0F0D8-9D3E-4353-915C-6AFC02ACDCC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050140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F61-A96E-4D29-86F7-4B88846E400C}" type="datetimeFigureOut">
              <a:rPr lang="es-ES" smtClean="0"/>
              <a:t>03/05/2025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0F0D8-9D3E-4353-915C-6AFC02ACDCC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19169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F61-A96E-4D29-86F7-4B88846E400C}" type="datetimeFigureOut">
              <a:rPr lang="es-ES" smtClean="0"/>
              <a:t>03/05/2025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0F0D8-9D3E-4353-915C-6AFC02ACDCC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887392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F61-A96E-4D29-86F7-4B88846E400C}" type="datetimeFigureOut">
              <a:rPr lang="es-ES" smtClean="0"/>
              <a:t>03/05/2025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0F0D8-9D3E-4353-915C-6AFC02ACDCC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20453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F61-A96E-4D29-86F7-4B88846E400C}" type="datetimeFigureOut">
              <a:rPr lang="es-ES" smtClean="0"/>
              <a:t>03/05/2025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0F0D8-9D3E-4353-915C-6AFC02ACDCC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09380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F61-A96E-4D29-86F7-4B88846E400C}" type="datetimeFigureOut">
              <a:rPr lang="es-ES" smtClean="0"/>
              <a:t>03/05/2025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0F0D8-9D3E-4353-915C-6AFC02ACDCC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82818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B4EF61-A96E-4D29-86F7-4B88846E400C}" type="datetimeFigureOut">
              <a:rPr lang="es-ES" smtClean="0"/>
              <a:t>03/05/2025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60F0D8-9D3E-4353-915C-6AFC02ACDCC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0107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3 Simple Steps to Import Kaggle Dataset Directly Into Google Colab | by  Josiah Adesola | Mediu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978" y="1939895"/>
            <a:ext cx="1819379" cy="994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Raw Data icons for free download | Freepik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3131"/>
          <a:stretch/>
        </p:blipFill>
        <p:spPr bwMode="auto">
          <a:xfrm>
            <a:off x="454677" y="782645"/>
            <a:ext cx="1194661" cy="115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ángulo redondeado 3"/>
          <p:cNvSpPr/>
          <p:nvPr/>
        </p:nvSpPr>
        <p:spPr>
          <a:xfrm>
            <a:off x="85459" y="628821"/>
            <a:ext cx="2153540" cy="2362207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cxnSp>
        <p:nvCxnSpPr>
          <p:cNvPr id="6" name="Conector recto de flecha 5"/>
          <p:cNvCxnSpPr/>
          <p:nvPr/>
        </p:nvCxnSpPr>
        <p:spPr>
          <a:xfrm>
            <a:off x="2238999" y="1820254"/>
            <a:ext cx="1184989" cy="0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uadroTexto 8"/>
          <p:cNvSpPr txBox="1"/>
          <p:nvPr/>
        </p:nvSpPr>
        <p:spPr>
          <a:xfrm>
            <a:off x="2213364" y="1809923"/>
            <a:ext cx="11023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dirty="0" smtClean="0">
                <a:solidFill>
                  <a:srgbClr val="00B050"/>
                </a:solidFill>
              </a:rPr>
              <a:t>Download rawdata</a:t>
            </a:r>
            <a:endParaRPr lang="es-ES" sz="1600" dirty="0">
              <a:solidFill>
                <a:srgbClr val="00B050"/>
              </a:solidFill>
            </a:endParaRPr>
          </a:p>
        </p:txBody>
      </p:sp>
      <p:sp>
        <p:nvSpPr>
          <p:cNvPr id="12" name="Rectángulo redondeado 11"/>
          <p:cNvSpPr/>
          <p:nvPr/>
        </p:nvSpPr>
        <p:spPr>
          <a:xfrm>
            <a:off x="3423988" y="639150"/>
            <a:ext cx="2640651" cy="2362207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pic>
        <p:nvPicPr>
          <p:cNvPr id="1032" name="Picture 8" descr="https://miro.medium.com/v2/resize:fit:700/1*2awzzwAEhgxypf1rFR7_lQ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0228" y="847612"/>
            <a:ext cx="2368170" cy="19452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CuadroTexto 15"/>
          <p:cNvSpPr txBox="1"/>
          <p:nvPr/>
        </p:nvSpPr>
        <p:spPr>
          <a:xfrm>
            <a:off x="9496999" y="3183574"/>
            <a:ext cx="1145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dirty="0" smtClean="0">
                <a:solidFill>
                  <a:schemeClr val="accent4">
                    <a:lumMod val="75000"/>
                  </a:schemeClr>
                </a:solidFill>
              </a:rPr>
              <a:t>Production </a:t>
            </a:r>
            <a:r>
              <a:rPr lang="es-ES" sz="1600" dirty="0" err="1" smtClean="0">
                <a:solidFill>
                  <a:schemeClr val="accent4">
                    <a:lumMod val="75000"/>
                  </a:schemeClr>
                </a:solidFill>
              </a:rPr>
              <a:t>model</a:t>
            </a:r>
            <a:endParaRPr lang="es-ES" sz="16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7" name="Rectángulo redondeado 16"/>
          <p:cNvSpPr/>
          <p:nvPr/>
        </p:nvSpPr>
        <p:spPr>
          <a:xfrm>
            <a:off x="7409200" y="628820"/>
            <a:ext cx="1444244" cy="2362207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pic>
        <p:nvPicPr>
          <p:cNvPr id="1034" name="Picture 10" descr="MinIO Logo &amp; Brand Assets (SVG, PNG and vector) - Brandfetch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12" r="25886"/>
          <a:stretch/>
        </p:blipFill>
        <p:spPr bwMode="auto">
          <a:xfrm>
            <a:off x="7455660" y="781914"/>
            <a:ext cx="1183962" cy="2037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" name="Conector recto de flecha 19"/>
          <p:cNvCxnSpPr/>
          <p:nvPr/>
        </p:nvCxnSpPr>
        <p:spPr>
          <a:xfrm flipV="1">
            <a:off x="6067461" y="1229260"/>
            <a:ext cx="1337499" cy="1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uadroTexto 21"/>
          <p:cNvSpPr txBox="1"/>
          <p:nvPr/>
        </p:nvSpPr>
        <p:spPr>
          <a:xfrm>
            <a:off x="6118161" y="639150"/>
            <a:ext cx="12360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dirty="0" smtClean="0">
                <a:solidFill>
                  <a:srgbClr val="00B050"/>
                </a:solidFill>
              </a:rPr>
              <a:t>Save &amp; Load rawdata</a:t>
            </a:r>
            <a:endParaRPr lang="es-ES" sz="1600" dirty="0">
              <a:solidFill>
                <a:srgbClr val="00B050"/>
              </a:solidFill>
            </a:endParaRPr>
          </a:p>
        </p:txBody>
      </p:sp>
      <p:cxnSp>
        <p:nvCxnSpPr>
          <p:cNvPr id="27" name="Conector recto de flecha 26"/>
          <p:cNvCxnSpPr/>
          <p:nvPr/>
        </p:nvCxnSpPr>
        <p:spPr>
          <a:xfrm flipH="1">
            <a:off x="6047055" y="1390356"/>
            <a:ext cx="1350844" cy="0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de flecha 29"/>
          <p:cNvCxnSpPr/>
          <p:nvPr/>
        </p:nvCxnSpPr>
        <p:spPr>
          <a:xfrm flipV="1">
            <a:off x="6074522" y="2146225"/>
            <a:ext cx="1337499" cy="1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uadroTexto 30"/>
          <p:cNvSpPr txBox="1"/>
          <p:nvPr/>
        </p:nvSpPr>
        <p:spPr>
          <a:xfrm>
            <a:off x="6118161" y="2361450"/>
            <a:ext cx="12360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dirty="0" smtClean="0">
                <a:solidFill>
                  <a:srgbClr val="00B050"/>
                </a:solidFill>
              </a:rPr>
              <a:t>Split, Transform &amp; Save data</a:t>
            </a:r>
            <a:endParaRPr lang="es-ES" sz="1600" dirty="0">
              <a:solidFill>
                <a:srgbClr val="00B050"/>
              </a:solidFill>
            </a:endParaRPr>
          </a:p>
        </p:txBody>
      </p:sp>
      <p:cxnSp>
        <p:nvCxnSpPr>
          <p:cNvPr id="32" name="Conector recto de flecha 31"/>
          <p:cNvCxnSpPr/>
          <p:nvPr/>
        </p:nvCxnSpPr>
        <p:spPr>
          <a:xfrm flipH="1">
            <a:off x="6054116" y="2307321"/>
            <a:ext cx="1350844" cy="0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ángulo redondeado 32"/>
          <p:cNvSpPr/>
          <p:nvPr/>
        </p:nvSpPr>
        <p:spPr>
          <a:xfrm>
            <a:off x="213043" y="3957848"/>
            <a:ext cx="1583018" cy="1456351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pic>
        <p:nvPicPr>
          <p:cNvPr id="1040" name="Picture 16" descr="File:Jupyter logo.svg - Wikipedia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573" y="4020197"/>
            <a:ext cx="985582" cy="1142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7" name="Conector recto de flecha 36"/>
          <p:cNvCxnSpPr>
            <a:stCxn id="33" idx="3"/>
            <a:endCxn id="39" idx="1"/>
          </p:cNvCxnSpPr>
          <p:nvPr/>
        </p:nvCxnSpPr>
        <p:spPr>
          <a:xfrm flipV="1">
            <a:off x="1796061" y="4635520"/>
            <a:ext cx="4974700" cy="50504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CuadroTexto 37"/>
          <p:cNvSpPr txBox="1"/>
          <p:nvPr/>
        </p:nvSpPr>
        <p:spPr>
          <a:xfrm>
            <a:off x="1721343" y="4253123"/>
            <a:ext cx="15335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dirty="0" smtClean="0">
                <a:solidFill>
                  <a:srgbClr val="0070C0"/>
                </a:solidFill>
              </a:rPr>
              <a:t>Load models</a:t>
            </a:r>
            <a:endParaRPr lang="es-ES" sz="1600" dirty="0">
              <a:solidFill>
                <a:srgbClr val="0070C0"/>
              </a:solidFill>
            </a:endParaRPr>
          </a:p>
        </p:txBody>
      </p:sp>
      <p:sp>
        <p:nvSpPr>
          <p:cNvPr id="39" name="Rectángulo redondeado 38"/>
          <p:cNvSpPr/>
          <p:nvPr/>
        </p:nvSpPr>
        <p:spPr>
          <a:xfrm>
            <a:off x="6770761" y="4047021"/>
            <a:ext cx="2164251" cy="1176998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cxnSp>
        <p:nvCxnSpPr>
          <p:cNvPr id="41" name="Conector recto de flecha 40"/>
          <p:cNvCxnSpPr/>
          <p:nvPr/>
        </p:nvCxnSpPr>
        <p:spPr>
          <a:xfrm flipH="1" flipV="1">
            <a:off x="7851003" y="2974531"/>
            <a:ext cx="5754" cy="1065192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42" name="Picture 18" descr="Tutorial MLflow: MLOps de forma sencilla - Ander Fernández"/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96" t="31926" r="22509" b="30544"/>
          <a:stretch/>
        </p:blipFill>
        <p:spPr bwMode="auto">
          <a:xfrm>
            <a:off x="6851859" y="4215691"/>
            <a:ext cx="1997196" cy="808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6" name="CuadroTexto 45"/>
          <p:cNvSpPr txBox="1"/>
          <p:nvPr/>
        </p:nvSpPr>
        <p:spPr>
          <a:xfrm>
            <a:off x="6317458" y="3299079"/>
            <a:ext cx="15335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dirty="0" smtClean="0">
                <a:solidFill>
                  <a:srgbClr val="0070C0"/>
                </a:solidFill>
              </a:rPr>
              <a:t>Save models &amp; experiments</a:t>
            </a:r>
            <a:endParaRPr lang="es-ES" sz="1600" dirty="0">
              <a:solidFill>
                <a:srgbClr val="0070C0"/>
              </a:solidFill>
            </a:endParaRPr>
          </a:p>
        </p:txBody>
      </p:sp>
      <p:sp>
        <p:nvSpPr>
          <p:cNvPr id="54" name="Rectángulo redondeado 53"/>
          <p:cNvSpPr/>
          <p:nvPr/>
        </p:nvSpPr>
        <p:spPr>
          <a:xfrm>
            <a:off x="10188122" y="781913"/>
            <a:ext cx="1690532" cy="1696367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32606" y="1007503"/>
            <a:ext cx="1457604" cy="1275759"/>
          </a:xfrm>
          <a:prstGeom prst="rect">
            <a:avLst/>
          </a:prstGeom>
        </p:spPr>
      </p:pic>
      <p:sp>
        <p:nvSpPr>
          <p:cNvPr id="35" name="CuadroTexto 34"/>
          <p:cNvSpPr txBox="1"/>
          <p:nvPr/>
        </p:nvSpPr>
        <p:spPr>
          <a:xfrm>
            <a:off x="991555" y="5557959"/>
            <a:ext cx="16681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 smtClean="0">
                <a:solidFill>
                  <a:srgbClr val="00B050"/>
                </a:solidFill>
              </a:rPr>
              <a:t>ETL process</a:t>
            </a:r>
            <a:endParaRPr lang="es-ES" sz="1600" dirty="0">
              <a:solidFill>
                <a:srgbClr val="00B050"/>
              </a:solidFill>
            </a:endParaRPr>
          </a:p>
        </p:txBody>
      </p:sp>
      <p:cxnSp>
        <p:nvCxnSpPr>
          <p:cNvPr id="5" name="Conector recto 4"/>
          <p:cNvCxnSpPr/>
          <p:nvPr/>
        </p:nvCxnSpPr>
        <p:spPr>
          <a:xfrm>
            <a:off x="299978" y="5711994"/>
            <a:ext cx="623843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uadroTexto 35"/>
          <p:cNvSpPr txBox="1"/>
          <p:nvPr/>
        </p:nvSpPr>
        <p:spPr>
          <a:xfrm>
            <a:off x="991555" y="5836616"/>
            <a:ext cx="32646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 smtClean="0">
                <a:solidFill>
                  <a:srgbClr val="0070C0"/>
                </a:solidFill>
              </a:rPr>
              <a:t>Model experimentation process</a:t>
            </a:r>
            <a:endParaRPr lang="es-ES" sz="1600" dirty="0">
              <a:solidFill>
                <a:srgbClr val="0070C0"/>
              </a:solidFill>
            </a:endParaRPr>
          </a:p>
        </p:txBody>
      </p:sp>
      <p:cxnSp>
        <p:nvCxnSpPr>
          <p:cNvPr id="40" name="Conector recto 39"/>
          <p:cNvCxnSpPr/>
          <p:nvPr/>
        </p:nvCxnSpPr>
        <p:spPr>
          <a:xfrm>
            <a:off x="299978" y="6028536"/>
            <a:ext cx="623843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angular 10"/>
          <p:cNvCxnSpPr>
            <a:stCxn id="39" idx="3"/>
          </p:cNvCxnSpPr>
          <p:nvPr/>
        </p:nvCxnSpPr>
        <p:spPr>
          <a:xfrm flipV="1">
            <a:off x="8935012" y="2462510"/>
            <a:ext cx="2109677" cy="2173010"/>
          </a:xfrm>
          <a:prstGeom prst="bentConnector2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angular 41"/>
          <p:cNvCxnSpPr/>
          <p:nvPr/>
        </p:nvCxnSpPr>
        <p:spPr>
          <a:xfrm rot="5400000">
            <a:off x="8852556" y="2638726"/>
            <a:ext cx="1959910" cy="1700162"/>
          </a:xfrm>
          <a:prstGeom prst="bentConnector3">
            <a:avLst>
              <a:gd name="adj1" fmla="val 100143"/>
            </a:avLst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CuadroTexto 47"/>
          <p:cNvSpPr txBox="1"/>
          <p:nvPr/>
        </p:nvSpPr>
        <p:spPr>
          <a:xfrm>
            <a:off x="11041547" y="3299079"/>
            <a:ext cx="8787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dirty="0" err="1" smtClean="0">
                <a:solidFill>
                  <a:schemeClr val="accent4">
                    <a:lumMod val="75000"/>
                  </a:schemeClr>
                </a:solidFill>
              </a:rPr>
              <a:t>Request</a:t>
            </a:r>
            <a:endParaRPr lang="es-ES" sz="1600" dirty="0">
              <a:solidFill>
                <a:schemeClr val="accent4">
                  <a:lumMod val="75000"/>
                </a:schemeClr>
              </a:solidFill>
            </a:endParaRPr>
          </a:p>
        </p:txBody>
      </p:sp>
      <p:cxnSp>
        <p:nvCxnSpPr>
          <p:cNvPr id="55" name="Conector recto de flecha 54"/>
          <p:cNvCxnSpPr/>
          <p:nvPr/>
        </p:nvCxnSpPr>
        <p:spPr>
          <a:xfrm flipV="1">
            <a:off x="8518340" y="3001357"/>
            <a:ext cx="1" cy="1038366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recto de flecha 55"/>
          <p:cNvCxnSpPr/>
          <p:nvPr/>
        </p:nvCxnSpPr>
        <p:spPr>
          <a:xfrm>
            <a:off x="8384966" y="2991027"/>
            <a:ext cx="0" cy="1065194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ángulo redondeado 48"/>
          <p:cNvSpPr/>
          <p:nvPr/>
        </p:nvSpPr>
        <p:spPr>
          <a:xfrm>
            <a:off x="3254888" y="273466"/>
            <a:ext cx="8751953" cy="5170205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53" name="Picture 2" descr="Primeros pasos con Docker para Windows - Daniel Córdoba Cárdenas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5676" y="5378557"/>
            <a:ext cx="1405052" cy="1200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" name="CuadroTexto 70"/>
          <p:cNvSpPr txBox="1"/>
          <p:nvPr/>
        </p:nvSpPr>
        <p:spPr>
          <a:xfrm>
            <a:off x="991555" y="6162426"/>
            <a:ext cx="18200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 smtClean="0">
                <a:solidFill>
                  <a:schemeClr val="accent4">
                    <a:lumMod val="75000"/>
                  </a:schemeClr>
                </a:solidFill>
              </a:rPr>
              <a:t>Production process</a:t>
            </a:r>
            <a:endParaRPr lang="es-ES" sz="1600" dirty="0">
              <a:solidFill>
                <a:schemeClr val="accent4">
                  <a:lumMod val="75000"/>
                </a:schemeClr>
              </a:solidFill>
            </a:endParaRPr>
          </a:p>
        </p:txBody>
      </p:sp>
      <p:cxnSp>
        <p:nvCxnSpPr>
          <p:cNvPr id="72" name="Conector recto 71"/>
          <p:cNvCxnSpPr/>
          <p:nvPr/>
        </p:nvCxnSpPr>
        <p:spPr>
          <a:xfrm>
            <a:off x="299978" y="6354346"/>
            <a:ext cx="623843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303204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28</Words>
  <Application>Microsoft Office PowerPoint</Application>
  <PresentationFormat>Panorámica</PresentationFormat>
  <Paragraphs>10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Cuenta Microsoft</dc:creator>
  <cp:lastModifiedBy>Cuenta Microsoft</cp:lastModifiedBy>
  <cp:revision>7</cp:revision>
  <dcterms:created xsi:type="dcterms:W3CDTF">2025-05-02T20:50:54Z</dcterms:created>
  <dcterms:modified xsi:type="dcterms:W3CDTF">2025-05-03T18:59:16Z</dcterms:modified>
</cp:coreProperties>
</file>